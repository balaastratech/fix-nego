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B301"/>
          </a:solidFill>
          <a:ln/>
        </p:spPr>
      </p:sp>
      <p:sp>
        <p:nvSpPr>
          <p:cNvPr id="3" name="Shape 1"/>
          <p:cNvSpPr/>
          <p:nvPr/>
        </p:nvSpPr>
        <p:spPr>
          <a:xfrm>
            <a:off x="7711135" y="640080"/>
            <a:ext cx="3931920" cy="5577840"/>
          </a:xfrm>
          <a:prstGeom prst="roundRect">
            <a:avLst>
              <a:gd name="adj" fmla="val 2791"/>
            </a:avLst>
          </a:prstGeom>
          <a:solidFill>
            <a:srgbClr val="161B2E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5B3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BALAASTRATECH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Negotiation</a:t>
            </a:r>
            <a:endParaRPr lang="en-US" sz="4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</a:t>
            </a:r>
            <a:endParaRPr lang="en-US" sz="4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Android XR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coaching agent on your glasses — it listens to a live negotiation and surfaces the next move on your lens, hands-free, eyes-up.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5321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E244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5321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POWERED BY GEMINI LIVE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55321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1E244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55321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 &amp; AUDIO GLASSES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85455" y="960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ON SCREEN NOW 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85455" y="13716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E2440"/>
          </a:solidFill>
          <a:ln/>
        </p:spPr>
      </p:sp>
      <p:sp>
        <p:nvSpPr>
          <p:cNvPr id="13" name="Text 11"/>
          <p:cNvSpPr/>
          <p:nvPr/>
        </p:nvSpPr>
        <p:spPr>
          <a:xfrm>
            <a:off x="8122615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3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ADVISOR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22615" y="18288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“Counter their offer of $500 with a price closer to your target, such as $700.”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85455" y="3429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$600–800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585655" y="34655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range, auto-researched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85455" y="410565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85655" y="41422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latency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85455" y="47823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585655" y="48188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Google Cloud Run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Balaastratech  ·  AI Negotiation Copilot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XR Developer Catalyst — May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88775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conversations demand your full attention — exactly when you most need help.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54298" cy="3566160"/>
          </a:xfrm>
          <a:prstGeom prst="roundRect">
            <a:avLst>
              <a:gd name="adj" fmla="val 2647"/>
            </a:avLst>
          </a:prstGeom>
          <a:solidFill>
            <a:srgbClr val="161B2E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317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1E244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can't look away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4069080"/>
            <a:ext cx="281421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talks, deals, big purchases — glancing at a phone breaks eye contact and signals weakness. The help has nowhere to live.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8698" y="2011680"/>
            <a:ext cx="3454298" cy="3566160"/>
          </a:xfrm>
          <a:prstGeom prst="roundRect">
            <a:avLst>
              <a:gd name="adj" fmla="val 2647"/>
            </a:avLst>
          </a:prstGeom>
          <a:solidFill>
            <a:srgbClr val="161B2E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8738" y="23317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1E2440"/>
          </a:solidFill>
          <a:ln/>
        </p:spPr>
      </p:sp>
      <p:sp>
        <p:nvSpPr>
          <p:cNvPr id="11" name="Text 9"/>
          <p:cNvSpPr/>
          <p:nvPr/>
        </p:nvSpPr>
        <p:spPr>
          <a:xfrm>
            <a:off x="4688738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88738" y="315468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 arrives too late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88738" y="4069080"/>
            <a:ext cx="281421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counter-offer or market price is useless after the moment has passed. Negotiation is real-time or it's nothing.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8757" y="2011680"/>
            <a:ext cx="3454298" cy="3566160"/>
          </a:xfrm>
          <a:prstGeom prst="roundRect">
            <a:avLst>
              <a:gd name="adj" fmla="val 2647"/>
            </a:avLst>
          </a:prstGeom>
          <a:solidFill>
            <a:srgbClr val="161B2E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8797" y="23317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1E2440"/>
          </a:solidFill>
          <a:ln/>
        </p:spPr>
      </p:sp>
      <p:sp>
        <p:nvSpPr>
          <p:cNvPr id="16" name="Text 14"/>
          <p:cNvSpPr/>
          <p:nvPr/>
        </p:nvSpPr>
        <p:spPr>
          <a:xfrm>
            <a:off x="8508797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8797" y="315468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people negotiate blind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08797" y="4069080"/>
            <a:ext cx="281421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prep or live data, people leave money on the table on the most expensive decisions of their lives.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glasses, the advisor finally has a home: in your field of view, the instant it matters.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Balaastratech  ·  AI Negotiation Copilot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XR Developer Catalyst — May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688775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 — working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live web/desktop app already does the hard part: listen, understand, and coach in real time. XR is the natural home for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0304" y="1636776"/>
            <a:ext cx="10991088" cy="4855113"/>
          </a:xfrm>
          <a:prstGeom prst="roundRect">
            <a:avLst>
              <a:gd name="adj" fmla="val 1507"/>
            </a:avLst>
          </a:prstGeom>
          <a:solidFill>
            <a:srgbClr val="161B2E"/>
          </a:solidFill>
          <a:ln w="15875">
            <a:solidFill>
              <a:srgbClr val="F5B301"/>
            </a:solidFill>
            <a:prstDash val="solid"/>
          </a:ln>
        </p:spPr>
      </p:sp>
      <p:pic>
        <p:nvPicPr>
          <p:cNvPr id="5" name="Image 0" descr="assets/sho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68" y="1691640"/>
            <a:ext cx="10881360" cy="47453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46753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session: selling an iPhone 14 Pro Max. The copilot extracts item, prices &amp; sentiment, flags the $500-vs-$800 leverage gap, pulls market data, and says “counter at ~$700” — instantly.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Balaastratech  ·  AI Negotiation Copilot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XR Developer Catalyst — May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688775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Android XR — why glasses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glanceable, hands-free, conversational utility — the exact profile Google describes for Display &amp; Audio glasses.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24942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Eyes-up &amp; hands-free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59689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on the lens; no phone, no broken eye contact.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18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1821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&amp; ambient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529584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cards appear the moment leverage shifts.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5137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51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Voice-first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6227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“Ask AI” by voice; spoken guidance back.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8406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840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504748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All-day contextual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3949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car lot to a boardroom — always ready.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23760" y="1920240"/>
            <a:ext cx="4389120" cy="4023360"/>
          </a:xfrm>
          <a:prstGeom prst="roundRect">
            <a:avLst>
              <a:gd name="adj" fmla="val 3182"/>
            </a:avLst>
          </a:prstGeom>
          <a:solidFill>
            <a:srgbClr val="05070F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THE LENS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80960" y="269748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1E2440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 AI ADVISOR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0" y="312724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their $500 with a price closer to your target — try $700.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680960" y="42976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61B2E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429768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 $600–$800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09760" y="429768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61B2E"/>
          </a:solidFill>
          <a:ln/>
        </p:spPr>
      </p:sp>
      <p:sp>
        <p:nvSpPr>
          <p:cNvPr id="28" name="Text 26"/>
          <p:cNvSpPr/>
          <p:nvPr/>
        </p:nvSpPr>
        <p:spPr>
          <a:xfrm>
            <a:off x="9509760" y="429768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 NEUTRAL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80960" y="47091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61B2E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0" y="47091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LEVERAGE  HIGH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09760" y="470916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61B2E"/>
          </a:solidFill>
          <a:ln/>
        </p:spPr>
      </p:sp>
      <p:sp>
        <p:nvSpPr>
          <p:cNvPr id="32" name="Text 30"/>
          <p:cNvSpPr/>
          <p:nvPr/>
        </p:nvSpPr>
        <p:spPr>
          <a:xfrm>
            <a:off x="9509760" y="470916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B3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TACTIC  BATNA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5532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— glanceable HUD concept built from the live product UI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Balaastratech  ·  AI Negotiation Copilot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XR Developer Catalyst — May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688775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on Gemini — already deployed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multimodal agent on Google's own stack. The XR client reuses this backend unchanged.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852160" cy="868680"/>
          </a:xfrm>
          <a:prstGeom prst="roundRect">
            <a:avLst>
              <a:gd name="adj" fmla="val 8421"/>
            </a:avLst>
          </a:prstGeom>
          <a:solidFill>
            <a:srgbClr val="161B2E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82296" cy="868680"/>
          </a:xfrm>
          <a:prstGeom prst="rect">
            <a:avLst/>
          </a:prstGeom>
          <a:solidFill>
            <a:srgbClr val="FFC5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Live API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native-audio voice — listens &amp; speaks back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5852160" cy="868680"/>
          </a:xfrm>
          <a:prstGeom prst="roundRect">
            <a:avLst>
              <a:gd name="adj" fmla="val 8421"/>
            </a:avLst>
          </a:prstGeom>
          <a:solidFill>
            <a:srgbClr val="161B2E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07792"/>
            <a:ext cx="82296" cy="868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17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Flash · ListenerAgent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3649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extraction: prices, sentiment, leverage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95344"/>
            <a:ext cx="5852160" cy="868680"/>
          </a:xfrm>
          <a:prstGeom prst="roundRect">
            <a:avLst>
              <a:gd name="adj" fmla="val 8421"/>
            </a:avLst>
          </a:prstGeom>
          <a:solidFill>
            <a:srgbClr val="161B2E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95344"/>
            <a:ext cx="82296" cy="8686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050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Search grounding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35254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data ($600–$800 range, auto-pulled)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82896"/>
            <a:ext cx="5852160" cy="868680"/>
          </a:xfrm>
          <a:prstGeom prst="roundRect">
            <a:avLst>
              <a:gd name="adj" fmla="val 8421"/>
            </a:avLst>
          </a:prstGeom>
          <a:solidFill>
            <a:srgbClr val="161B2E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882896"/>
            <a:ext cx="82296" cy="868680"/>
          </a:xfrm>
          <a:prstGeom prst="rect">
            <a:avLst/>
          </a:prstGeom>
          <a:solidFill>
            <a:srgbClr val="F5B30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9262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+ WebSockets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34009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PCM streaming, sub-second round-trip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1874520"/>
            <a:ext cx="4663440" cy="4174575"/>
          </a:xfrm>
          <a:prstGeom prst="roundRect">
            <a:avLst>
              <a:gd name="adj" fmla="val 1314"/>
            </a:avLst>
          </a:prstGeom>
          <a:solidFill>
            <a:srgbClr val="161B2E"/>
          </a:solidFill>
          <a:ln w="12700">
            <a:solidFill>
              <a:srgbClr val="F5B301"/>
            </a:solidFill>
            <a:prstDash val="solid"/>
          </a:ln>
        </p:spPr>
      </p:sp>
      <p:pic>
        <p:nvPicPr>
          <p:cNvPr id="21" name="Image 0" descr="assets/c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920240"/>
            <a:ext cx="4572000" cy="408313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675120" y="6076527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output: auto-built negotiation context — item, prices, leverage points &amp; researched market tactics.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Balaastratech  ·  AI Negotiation Copilot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XR Developer Catalyst — May 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688775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to Play — and the ask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Kotlin + Jetpack Compose client on the Jetpack XR SDK, reusing our deployed cloud backend.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161B2E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2140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214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0–2 mo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207637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WebSocket audio client to native Jetpack XR; coaching cards on lens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02254" y="1920240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161B2E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0854" y="212140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3630854" y="21214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2–4 mo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30854" y="2697480"/>
            <a:ext cx="207637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On-glasses mic capture + voice “Ask AI”; latency tuning for the HUD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920240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161B2E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84468" y="212140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6484468" y="21214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4–8 mo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84468" y="2697480"/>
            <a:ext cx="207637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testing on dev-kit hardware; ambient-listening consent UX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09481" y="1920240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161B2E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38081" y="212140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/>
        </p:spPr>
      </p:sp>
      <p:sp>
        <p:nvSpPr>
          <p:cNvPr id="18" name="Text 16"/>
          <p:cNvSpPr/>
          <p:nvPr/>
        </p:nvSpPr>
        <p:spPr>
          <a:xfrm>
            <a:off x="9338081" y="21214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8–12 mo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38081" y="2697480"/>
            <a:ext cx="207637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XR closed/open testing track → Play, target Mar 2027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94415" cy="1737360"/>
          </a:xfrm>
          <a:prstGeom prst="roundRect">
            <a:avLst>
              <a:gd name="adj" fmla="val 6316"/>
            </a:avLst>
          </a:prstGeom>
          <a:solidFill>
            <a:srgbClr val="1E2440"/>
          </a:solidFill>
          <a:ln w="15875">
            <a:solidFill>
              <a:srgbClr val="F5B30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3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029200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 kit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5376672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&amp; Audio glasses hardware (shipping to eligible region)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90618" y="5029200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support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90618" y="5376672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XR SDK guidance for low-latency on-glasses audio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66837" y="5029200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66837" y="5376672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~3–4 mo focused engineering to port &amp; harden the native client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Balaastratech  ·  AI Negotiation Copilot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XR Developer Catalyst — May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688775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2026-05-30T02:50:55Z</dcterms:created>
  <dcterms:modified xsi:type="dcterms:W3CDTF">2026-05-30T02:50:55Z</dcterms:modified>
</cp:coreProperties>
</file>